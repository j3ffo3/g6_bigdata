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80000"/>
            <a:ext cx="12193200" cy="6480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432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700">
                <a:solidFill>
                  <a:srgbClr val="B0C4DE"/>
                </a:solidFill>
              </a:rPr>
              <a:t>Semester Project: Domain Discovery,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72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700">
                <a:solidFill>
                  <a:srgbClr val="B0C4DE"/>
                </a:solidFill>
              </a:rPr>
              <a:t>Recommendation &amp; Graph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088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000">
                <a:solidFill>
                  <a:srgbClr val="FFFFFF"/>
                </a:solidFill>
              </a:rPr>
              <a:t>Week 10: Recommendation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311999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500">
                <a:solidFill>
                  <a:srgbClr val="E86B2C"/>
                </a:solidFill>
              </a:rPr>
              <a:t>Group 6  —  Big Data Course  —  UPC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031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8AA8CC"/>
                </a:solidFill>
              </a:rPr>
              <a:t>Iam Alvarez Orellana   •   Jeffrey Diaz Villanueva
Paula Mancilla Cienfuegos   •   Fernando Paredes Espinoza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108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Project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576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B0C4DE"/>
                </a:solidFill>
              </a:rPr>
              <a:t>4-layer architecture from raw data to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6000"/>
            <a:ext cx="12193200" cy="2880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93200" cy="21600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49200"/>
            <a:ext cx="11833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00">
                <a:solidFill>
                  <a:srgbClr val="AABBCC"/>
                </a:solidFill>
              </a:rPr>
              <a:t>Group 6  |  Big Data  |  UPC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00" y="1152000"/>
            <a:ext cx="2592000" cy="251999"/>
          </a:xfrm>
          <a:prstGeom prst="rect">
            <a:avLst/>
          </a:prstGeom>
          <a:solidFill>
            <a:srgbClr val="275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2000" y="1152000"/>
            <a:ext cx="2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W3 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000" y="1403999"/>
            <a:ext cx="2592000" cy="3528001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000" y="1422000"/>
            <a:ext cx="2484000" cy="34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55F6D"/>
                </a:solidFill>
              </a:rPr>
              <a:t>steam_v1.parquet
480 k interactions
Star schema on AppID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4000" y="2700000"/>
            <a:ext cx="5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800">
                <a:solidFill>
                  <a:srgbClr val="275CAE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6000" y="1152000"/>
            <a:ext cx="2592000" cy="251999"/>
          </a:xfrm>
          <a:prstGeom prst="rect">
            <a:avLst/>
          </a:prstGeom>
          <a:solidFill>
            <a:srgbClr val="275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2000" y="1152000"/>
            <a:ext cx="2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W5  FEATURES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6000" y="1403999"/>
            <a:ext cx="2592000" cy="3528001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0000" y="1422000"/>
            <a:ext cx="2484000" cy="34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55F6D"/>
                </a:solidFill>
              </a:rPr>
              <a:t>X_numeric (87k×26)
X_categorical (87k×5k)
X_text TF-IDF (87k×5k)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4000" y="2700000"/>
            <a:ext cx="5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800">
                <a:solidFill>
                  <a:srgbClr val="275CAE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36000" y="1152000"/>
            <a:ext cx="2592000" cy="251999"/>
          </a:xfrm>
          <a:prstGeom prst="rect">
            <a:avLst/>
          </a:prstGeom>
          <a:solidFill>
            <a:srgbClr val="275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2000" y="1152000"/>
            <a:ext cx="2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W7  CLUSTERS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36000" y="1403999"/>
            <a:ext cx="2592000" cy="3528001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0000" y="1422000"/>
            <a:ext cx="2484000" cy="34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55F6D"/>
                </a:solidFill>
              </a:rPr>
              <a:t>Tags-only binary matrix
K-Means K=6 (SVD+L2)
6 semantic segments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4000" y="2700000"/>
            <a:ext cx="5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800">
                <a:solidFill>
                  <a:srgbClr val="275CAE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96000" y="1152000"/>
            <a:ext cx="2592000" cy="251999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32000" y="1152000"/>
            <a:ext cx="2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W10  RECS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96000" y="1403999"/>
            <a:ext cx="2592000" cy="3528001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50000" y="1422000"/>
            <a:ext cx="2484000" cy="34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55F6D"/>
                </a:solidFill>
              </a:rPr>
              <a:t>Popularity baseline
Content + MF + Hybrid
HR@10 evaluation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108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576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B0C4DE"/>
                </a:solidFill>
              </a:rPr>
              <a:t>Steam Games &amp; Reviews — Kaggle CC0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6000"/>
            <a:ext cx="12193200" cy="2880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93200" cy="21600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49200"/>
            <a:ext cx="11833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00">
                <a:solidFill>
                  <a:srgbClr val="AABBCC"/>
                </a:solidFill>
              </a:rPr>
              <a:t>Group 6  |  Big Data  |  UPC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1152000"/>
            <a:ext cx="5220000" cy="13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152000"/>
            <a:ext cx="5220000" cy="576000"/>
          </a:xfrm>
          <a:prstGeom prst="rect">
            <a:avLst/>
          </a:prstGeom>
          <a:solidFill>
            <a:srgbClr val="275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1188000"/>
            <a:ext cx="50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600">
                <a:solidFill>
                  <a:srgbClr val="FFFFFF"/>
                </a:solidFill>
              </a:rPr>
              <a:t>80,000+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1764000"/>
            <a:ext cx="504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555F6D"/>
                </a:solidFill>
              </a:rPr>
              <a:t>Steam games in full catalog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2772000"/>
            <a:ext cx="5220000" cy="13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0000" y="2772000"/>
            <a:ext cx="5220000" cy="576000"/>
          </a:xfrm>
          <a:prstGeom prst="rect">
            <a:avLst/>
          </a:prstGeom>
          <a:solidFill>
            <a:srgbClr val="275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000" y="2808000"/>
            <a:ext cx="50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600">
                <a:solidFill>
                  <a:srgbClr val="FFFFFF"/>
                </a:solidFill>
              </a:rPr>
              <a:t>480,025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3384000"/>
            <a:ext cx="504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555F6D"/>
                </a:solidFill>
              </a:rPr>
              <a:t>Interaction records (V1 subset, 500 games)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4392000"/>
            <a:ext cx="5220000" cy="13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0000" y="4392000"/>
            <a:ext cx="5220000" cy="576000"/>
          </a:xfrm>
          <a:prstGeom prst="rect">
            <a:avLst/>
          </a:prstGeom>
          <a:solidFill>
            <a:srgbClr val="275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" y="4428000"/>
            <a:ext cx="50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600">
                <a:solidFill>
                  <a:srgbClr val="FFFFFF"/>
                </a:solidFill>
              </a:rPr>
              <a:t>426,601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" y="5004000"/>
            <a:ext cx="504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555F6D"/>
                </a:solidFill>
              </a:rPr>
              <a:t>Unique users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0000" y="1152000"/>
            <a:ext cx="5220000" cy="13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0000" y="1152000"/>
            <a:ext cx="5220000" cy="576000"/>
          </a:xfrm>
          <a:prstGeom prst="rect">
            <a:avLst/>
          </a:prstGeom>
          <a:solidFill>
            <a:srgbClr val="275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2000" y="1188000"/>
            <a:ext cx="50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600">
                <a:solidFill>
                  <a:srgbClr val="FFFFFF"/>
                </a:solidFill>
              </a:rPr>
              <a:t>87,806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2000" y="1764000"/>
            <a:ext cx="504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555F6D"/>
                </a:solidFill>
              </a:rPr>
              <a:t>Games in feature matrices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0000" y="2772000"/>
            <a:ext cx="5220000" cy="13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0000" y="2772000"/>
            <a:ext cx="5220000" cy="576000"/>
          </a:xfrm>
          <a:prstGeom prst="rect">
            <a:avLst/>
          </a:prstGeom>
          <a:solidFill>
            <a:srgbClr val="275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000" y="2808000"/>
            <a:ext cx="50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600">
                <a:solidFill>
                  <a:srgbClr val="FFFFFF"/>
                </a:solidFill>
              </a:rPr>
              <a:t>69,943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2000" y="3384000"/>
            <a:ext cx="504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555F6D"/>
                </a:solidFill>
              </a:rPr>
              <a:t>Tagged games (used for clustering)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0000" y="4392000"/>
            <a:ext cx="5220000" cy="13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0000" y="4392000"/>
            <a:ext cx="5220000" cy="576000"/>
          </a:xfrm>
          <a:prstGeom prst="rect">
            <a:avLst/>
          </a:prstGeom>
          <a:solidFill>
            <a:srgbClr val="275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2000" y="4428000"/>
            <a:ext cx="50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600">
                <a:solidFill>
                  <a:srgbClr val="FFFFFF"/>
                </a:solidFill>
              </a:rPr>
              <a:t>99.8 %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2000" y="5004000"/>
            <a:ext cx="504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555F6D"/>
                </a:solidFill>
              </a:rPr>
              <a:t>Interaction matrix sparsity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000" y="6120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555F6D"/>
                </a:solidFill>
              </a:rPr>
              <a:t>Star schema: AppID joins Games catalog ↔ Reviews interactions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108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Feature Engineering (W5) — Dimensionality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576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B0C4DE"/>
                </a:solidFill>
              </a:rPr>
              <a:t>PCA on X_numeric and TruncatedSVD on X_text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6000"/>
            <a:ext cx="12193200" cy="2880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93200" cy="21600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49200"/>
            <a:ext cx="11833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00">
                <a:solidFill>
                  <a:srgbClr val="AABBCC"/>
                </a:solidFill>
              </a:rPr>
              <a:t>Group 6  |  Big Data  |  UPC</a:t>
            </a:r>
          </a:p>
        </p:txBody>
      </p:sp>
      <p:pic>
        <p:nvPicPr>
          <p:cNvPr id="8" name="Picture 7" descr="fig_w5_01_pca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080000"/>
            <a:ext cx="5760000" cy="2880000"/>
          </a:xfrm>
          <a:prstGeom prst="rect">
            <a:avLst/>
          </a:prstGeom>
        </p:spPr>
      </p:pic>
      <p:pic>
        <p:nvPicPr>
          <p:cNvPr id="9" name="Picture 8" descr="fig_w5_02_svd_spectr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1080000"/>
            <a:ext cx="5940000" cy="198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0000" y="5220000"/>
            <a:ext cx="57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555F6D"/>
                </a:solidFill>
              </a:rPr>
              <a:t>PCA: k=12 components capture ≥90% of numeric variance.
12D used for Lloyd’s verification in W7.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0" y="5220000"/>
            <a:ext cx="59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555F6D"/>
                </a:solidFill>
              </a:rPr>
              <a:t>SVD on X_text: slow singular value decay (broad vocabulary).
k=201 for 50% variance. k=50 used in clustering (tag matrix).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108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Clustering — Class 7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576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B0C4DE"/>
                </a:solidFill>
              </a:rPr>
              <a:t>How lecture concepts drove implementation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6000"/>
            <a:ext cx="12193200" cy="2880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93200" cy="21600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49200"/>
            <a:ext cx="11833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00">
                <a:solidFill>
                  <a:srgbClr val="AABBCC"/>
                </a:solidFill>
              </a:rPr>
              <a:t>Group 6  |  Big Data  |  UPC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00" y="1080000"/>
            <a:ext cx="3780000" cy="251999"/>
          </a:xfrm>
          <a:prstGeom prst="rect">
            <a:avLst/>
          </a:prstGeom>
          <a:solidFill>
            <a:srgbClr val="275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2000" y="1080000"/>
            <a:ext cx="370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Lloyd’s Algorithm
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000" y="1331999"/>
            <a:ext cx="3780000" cy="4608001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000" y="1350000"/>
            <a:ext cx="3672000" cy="45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555F6D"/>
                </a:solidFill>
              </a:rPr>
              <a:t>Class 7 defines K-means as
iterative assignment + centroid
update. We manually ran one
iteration per seed to confirm
J_after ≤ J_before (5/5 seeds).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76000" y="1080000"/>
            <a:ext cx="3780000" cy="251999"/>
          </a:xfrm>
          <a:prstGeom prst="rect">
            <a:avLst/>
          </a:prstGeom>
          <a:solidFill>
            <a:srgbClr val="275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12000" y="1080000"/>
            <a:ext cx="370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Representation
Ablation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6000" y="1331999"/>
            <a:ext cx="3780000" cy="4608001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0000" y="1350000"/>
            <a:ext cx="3672000" cy="45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555F6D"/>
                </a:solidFill>
              </a:rPr>
              <a:t>Class 7: distance metric depends
on representation. We tested
3 variants:
Raw sparse → sil=0.026
SVD 50D → sil=0.064
SVD+L2 → sil=0.077 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6000" y="1080000"/>
            <a:ext cx="3780000" cy="251999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2000" y="1080000"/>
            <a:ext cx="370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K Selection
(Elbow + Silhouette)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6000" y="1331999"/>
            <a:ext cx="3780000" cy="4608001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0000" y="1350000"/>
            <a:ext cx="3672000" cy="45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555F6D"/>
                </a:solidFill>
              </a:rPr>
              <a:t>Class 7: no universal K.
We swept K∈{4,6,8,10}.
K=6 chosen: balanced
cluster sizes (min 4,773)
vs K=8/10 (min 958 games).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108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K=6 Cluster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576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B0C4DE"/>
                </a:solidFill>
              </a:rPr>
              <a:t>Top tags by lift = P(tag|cluster) / P(tag)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6000"/>
            <a:ext cx="12193200" cy="2880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93200" cy="21600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49200"/>
            <a:ext cx="11833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00">
                <a:solidFill>
                  <a:srgbClr val="AABBCC"/>
                </a:solidFill>
              </a:rPr>
              <a:t>Group 6  |  Big Data  |  UPC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000" y="1080000"/>
            <a:ext cx="3671999" cy="251999"/>
          </a:xfrm>
          <a:prstGeom prst="rect">
            <a:avLst/>
          </a:prstGeom>
          <a:solidFill>
            <a:srgbClr val="555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6000" y="1080000"/>
            <a:ext cx="3599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C0  Creative Tools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000" y="1331999"/>
            <a:ext cx="3671999" cy="2196001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4000" y="1350000"/>
            <a:ext cx="3563999" cy="21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55F6D"/>
                </a:solidFill>
              </a:rPr>
              <a:t>Size: 4,773  (6.8%)
video production 14.6×
audio production 14.6×
photo editing 14.6×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40000" y="1080000"/>
            <a:ext cx="3671999" cy="251999"/>
          </a:xfrm>
          <a:prstGeom prst="rect">
            <a:avLst/>
          </a:prstGeom>
          <a:solidFill>
            <a:srgbClr val="275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6000" y="1080000"/>
            <a:ext cx="3599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C1  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40000" y="1331999"/>
            <a:ext cx="3671999" cy="2196001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94000" y="1350000"/>
            <a:ext cx="3563999" cy="21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55F6D"/>
                </a:solidFill>
              </a:rPr>
              <a:t>Size: 15,353 (22%)
combat 3.2×
action-adventure 3.1×
side scroller 3.1×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0000" y="1080000"/>
            <a:ext cx="3671999" cy="251999"/>
          </a:xfrm>
          <a:prstGeom prst="rect">
            <a:avLst/>
          </a:prstGeom>
          <a:solidFill>
            <a:srgbClr val="275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6000" y="1080000"/>
            <a:ext cx="3599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C2  Narrative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0000" y="1331999"/>
            <a:ext cx="3671999" cy="2196001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4000" y="1350000"/>
            <a:ext cx="3563999" cy="21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55F6D"/>
                </a:solidFill>
              </a:rPr>
              <a:t>Size: 13,576 (19.4%)
text-based 4.0×
story rich 3.1×
great soundtrack 2.9×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0000" y="3816000"/>
            <a:ext cx="3671999" cy="251999"/>
          </a:xfrm>
          <a:prstGeom prst="rect">
            <a:avLst/>
          </a:prstGeom>
          <a:solidFill>
            <a:srgbClr val="275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6000" y="3816000"/>
            <a:ext cx="3599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C3  Strategy/Puzzle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0000" y="4067999"/>
            <a:ext cx="3671999" cy="2196001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4000" y="4086000"/>
            <a:ext cx="3563999" cy="21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55F6D"/>
                </a:solidFill>
              </a:rPr>
              <a:t>Size: 14,060 (20.1%)
card game 3.8×
logic 3.7×
building 3.3×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40000" y="3816000"/>
            <a:ext cx="3671999" cy="251999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76000" y="3816000"/>
            <a:ext cx="3599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C4  Local Multiplayer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40000" y="4067999"/>
            <a:ext cx="3671999" cy="2196001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94000" y="4086000"/>
            <a:ext cx="3563999" cy="21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55F6D"/>
                </a:solidFill>
              </a:rPr>
              <a:t>Size: 12,112 (17.3%)
local co-op 5.8×
4 player local 5.8×
split screen 5.7×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00000" y="3816000"/>
            <a:ext cx="3671999" cy="251999"/>
          </a:xfrm>
          <a:prstGeom prst="rect">
            <a:avLst/>
          </a:prstGeom>
          <a:solidFill>
            <a:srgbClr val="275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6000" y="3816000"/>
            <a:ext cx="3599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C5  Casual/HO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00000" y="4067999"/>
            <a:ext cx="3671999" cy="2196001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54000" y="4086000"/>
            <a:ext cx="3563999" cy="21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55F6D"/>
                </a:solidFill>
              </a:rPr>
              <a:t>Size: 10,069 (14.4%)
hidden object 6.5×
point &amp; click 5.5×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0000" y="6318000"/>
            <a:ext cx="11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555F6D"/>
                </a:solidFill>
              </a:rPr>
              <a:t>Silhouette = 0.077  |  Inertia = 29,175  |  ARI stability mean = 0.49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108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Recommendation Engine — Architecture (Week 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576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B0C4DE"/>
                </a:solidFill>
              </a:rPr>
              <a:t>4 systems evaluated on the same 484-game universe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6000"/>
            <a:ext cx="12193200" cy="2880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93200" cy="21600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49200"/>
            <a:ext cx="11833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00">
                <a:solidFill>
                  <a:srgbClr val="AABBCC"/>
                </a:solidFill>
              </a:rPr>
              <a:t>Group 6  |  Big Data  |  UPC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000" y="1080000"/>
            <a:ext cx="2808000" cy="251999"/>
          </a:xfrm>
          <a:prstGeom prst="rect">
            <a:avLst/>
          </a:prstGeom>
          <a:solidFill>
            <a:srgbClr val="555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6000" y="1080000"/>
            <a:ext cx="273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1. Popularity
Baseline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000" y="1331999"/>
            <a:ext cx="2808000" cy="4248001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4000" y="1350000"/>
            <a:ext cx="2700000" cy="41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55F6D"/>
                </a:solidFill>
              </a:rPr>
              <a:t>Rank by aggregate
'recommendations' count.
Same list for every user.
No personalization.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0" y="1080000"/>
            <a:ext cx="2808000" cy="251999"/>
          </a:xfrm>
          <a:prstGeom prst="rect">
            <a:avLst/>
          </a:prstGeom>
          <a:solidFill>
            <a:srgbClr val="275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6000" y="1080000"/>
            <a:ext cx="273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2. Content-Based
Baseline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0000" y="1331999"/>
            <a:ext cx="2808000" cy="4248001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4000" y="1350000"/>
            <a:ext cx="2700000" cy="41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55F6D"/>
                </a:solidFill>
              </a:rPr>
              <a:t>TF-IDF on name+tags
+description (3k terms).
SVD → 50D. User vector
= centroid of train games.
Cosine similarity ranking.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1080000"/>
            <a:ext cx="2808000" cy="251999"/>
          </a:xfrm>
          <a:prstGeom prst="rect">
            <a:avLst/>
          </a:prstGeom>
          <a:solidFill>
            <a:srgbClr val="275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000" y="1080000"/>
            <a:ext cx="273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3. Matrix
Factorization (SGD)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1331999"/>
            <a:ext cx="2808000" cy="4248001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4000" y="1350000"/>
            <a:ext cx="2700000" cy="41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55F6D"/>
                </a:solidFill>
              </a:rPr>
              <a:t>Binary interaction matrix
R ∈ {0,1}^{users × games}.
Latent factors P, Q.
Objective: min MSE + L2 reg.
k ∈ {10, 20, 50} swept.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60000" y="1080000"/>
            <a:ext cx="2808000" cy="251999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6000" y="1080000"/>
            <a:ext cx="273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4. Hybrid
Recommender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60000" y="1331999"/>
            <a:ext cx="2808000" cy="4248001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4000" y="1350000"/>
            <a:ext cx="2700000" cy="41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55F6D"/>
                </a:solidFill>
              </a:rPr>
              <a:t>α × content_score
+ (1-α) × MF_score
Both min-max normalized.
α ∈ {0.1,0.3,0.5,0.7,0.9}
Best: α = 0.3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0000" y="5760000"/>
            <a:ext cx="11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555F6D"/>
                </a:solidFill>
              </a:rPr>
              <a:t>AppID is the common key across catalog, interaction parquet, and cluster labels — hybrid combination is exact by construction.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108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Matrix Factorization — SGD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576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B0C4DE"/>
                </a:solidFill>
              </a:rPr>
              <a:t>Objective function and update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6000"/>
            <a:ext cx="12193200" cy="2880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93200" cy="21600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49200"/>
            <a:ext cx="11833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00">
                <a:solidFill>
                  <a:srgbClr val="AABBCC"/>
                </a:solidFill>
              </a:rPr>
              <a:t>Group 6  |  Big Data  |  UPC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00" y="1080000"/>
            <a:ext cx="11772000" cy="2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1152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1A233E"/>
                </a:solidFill>
              </a:rPr>
              <a:t>Objective: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1440000"/>
            <a:ext cx="11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275CAE"/>
                </a:solidFill>
              </a:rPr>
              <a:t>min_{P,Q}  Σ_{(u,i)∈Ω}  (R_ui - p_uᵀ q_i)²  +  λ ( ‖P‖² + ‖Q‖²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1980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1A233E"/>
                </a:solidFill>
              </a:rPr>
              <a:t>SGD updates per observed pair (u, i):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268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275CAE"/>
                </a:solidFill>
              </a:rPr>
              <a:t>p_u  ←  p_u + η ( e_ui · q_i  −  λ · p_u )     where  e_ui = R_ui − p_uᵀ q_i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2556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275CAE"/>
                </a:solidFill>
              </a:rPr>
              <a:t>q_i  ←  q_i + η ( e_ui · p_u  −  λ · q_i 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000" y="3888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1A233E"/>
                </a:solidFill>
              </a:rPr>
              <a:t>Hyperparameters: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6000" y="4176000"/>
            <a:ext cx="11772000" cy="396000"/>
          </a:xfrm>
          <a:prstGeom prst="rect">
            <a:avLst/>
          </a:prstGeom>
          <a:solidFill>
            <a:srgbClr val="F2F5FB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00" y="4212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A233E"/>
                </a:solidFill>
              </a:rPr>
              <a:t>Learning rate 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8000" y="4212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E86B2C"/>
                </a:solidFill>
              </a:rPr>
              <a:t>0.03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8000" y="4212000"/>
            <a:ext cx="64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55F6D"/>
                </a:solidFill>
              </a:rPr>
              <a:t>Standard for implicit binary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000" y="4608000"/>
            <a:ext cx="11772000" cy="3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00" y="4644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A233E"/>
                </a:solidFill>
              </a:rPr>
              <a:t>Regularization 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8000" y="4644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E86B2C"/>
                </a:solidFill>
              </a:rPr>
              <a:t>0.01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8000" y="4644000"/>
            <a:ext cx="64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55F6D"/>
                </a:solidFill>
              </a:rPr>
              <a:t>Prevents overfitting (99.8% sparse matrix)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000" y="5040000"/>
            <a:ext cx="11772000" cy="396000"/>
          </a:xfrm>
          <a:prstGeom prst="rect">
            <a:avLst/>
          </a:prstGeom>
          <a:solidFill>
            <a:srgbClr val="F2F5FB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00" y="5076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A233E"/>
                </a:solidFill>
              </a:rPr>
              <a:t>Epochs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8000" y="5076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E86B2C"/>
                </a:solidFill>
              </a:rPr>
              <a:t>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8000" y="5076000"/>
            <a:ext cx="64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55F6D"/>
                </a:solidFill>
              </a:rPr>
              <a:t>Convergence confirmed by loss curve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000" y="5471999"/>
            <a:ext cx="11772000" cy="3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8000" y="5507999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A233E"/>
                </a:solidFill>
              </a:rPr>
              <a:t>Latent dim 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8000" y="5507999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E86B2C"/>
                </a:solidFill>
              </a:rPr>
              <a:t>{10, 20, 50}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8000" y="5507999"/>
            <a:ext cx="64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55F6D"/>
                </a:solidFill>
              </a:rPr>
              <a:t>Swept; best k=10 on 484-game universe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000" y="5904000"/>
            <a:ext cx="11772000" cy="396000"/>
          </a:xfrm>
          <a:prstGeom prst="rect">
            <a:avLst/>
          </a:prstGeom>
          <a:solidFill>
            <a:srgbClr val="F2F5FB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00" y="5940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A233E"/>
                </a:solidFill>
              </a:rPr>
              <a:t>Initialization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0" y="5940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E86B2C"/>
                </a:solidFill>
              </a:rPr>
              <a:t>N(0, 0.01)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28000" y="5940000"/>
            <a:ext cx="64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55F6D"/>
                </a:solidFill>
              </a:rPr>
              <a:t>Small values break symmetry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108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Evaluation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576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B0C4DE"/>
                </a:solidFill>
              </a:rPr>
              <a:t>Hit-Rate@K on held-out positive interactions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6000"/>
            <a:ext cx="12193200" cy="2880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93200" cy="21600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49200"/>
            <a:ext cx="11833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00">
                <a:solidFill>
                  <a:srgbClr val="AABBCC"/>
                </a:solidFill>
              </a:rPr>
              <a:t>Group 6  |  Big Data  |  UPC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000" y="1080000"/>
            <a:ext cx="1080000" cy="1512000"/>
          </a:xfrm>
          <a:prstGeom prst="rect">
            <a:avLst/>
          </a:prstGeom>
          <a:solidFill>
            <a:srgbClr val="275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1368000"/>
            <a:ext cx="1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6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0000" y="1080000"/>
            <a:ext cx="4680000" cy="15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6000" y="1152000"/>
            <a:ext cx="45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1A233E"/>
                </a:solidFill>
              </a:rPr>
              <a:t>Build interaction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6000" y="1512000"/>
            <a:ext cx="457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55F6D"/>
                </a:solidFill>
              </a:rPr>
              <a:t>Sparse binary R (users × games). voted_up=True → 1. Duplicates removed.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" y="2808000"/>
            <a:ext cx="1080000" cy="1512000"/>
          </a:xfrm>
          <a:prstGeom prst="rect">
            <a:avLst/>
          </a:prstGeom>
          <a:solidFill>
            <a:srgbClr val="275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0000" y="3096000"/>
            <a:ext cx="1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6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60000" y="2808000"/>
            <a:ext cx="4680000" cy="15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96000" y="2880000"/>
            <a:ext cx="45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1A233E"/>
                </a:solidFill>
              </a:rPr>
              <a:t>Qualify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6000" y="3240000"/>
            <a:ext cx="457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55F6D"/>
                </a:solidFill>
              </a:rPr>
              <a:t>Keep users with ≥ 2 positive interactions (need ≥1 train + 1 hold-out).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000" y="4536000"/>
            <a:ext cx="1080000" cy="1512000"/>
          </a:xfrm>
          <a:prstGeom prst="rect">
            <a:avLst/>
          </a:prstGeom>
          <a:solidFill>
            <a:srgbClr val="275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0000" y="4824000"/>
            <a:ext cx="1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6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0000" y="4536000"/>
            <a:ext cx="4680000" cy="15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96000" y="4608000"/>
            <a:ext cx="45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1A233E"/>
                </a:solidFill>
              </a:rPr>
              <a:t>Train/test 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6000" y="4968000"/>
            <a:ext cx="457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55F6D"/>
                </a:solidFill>
              </a:rPr>
              <a:t>Hold out 1 random positive per user (random_state=42). Rest = training.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2000" y="1080000"/>
            <a:ext cx="1080000" cy="1512000"/>
          </a:xfrm>
          <a:prstGeom prst="rect">
            <a:avLst/>
          </a:prstGeom>
          <a:solidFill>
            <a:srgbClr val="275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2000" y="1368000"/>
            <a:ext cx="1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6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72000" y="1080000"/>
            <a:ext cx="4680000" cy="15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08000" y="1152000"/>
            <a:ext cx="45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1A233E"/>
                </a:solidFill>
              </a:rPr>
              <a:t>Candidate pool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08000" y="1512000"/>
            <a:ext cx="457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55F6D"/>
                </a:solidFill>
              </a:rPr>
              <a:t>All games the user has NOT interacted with in training.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2000" y="2808000"/>
            <a:ext cx="1080000" cy="1512000"/>
          </a:xfrm>
          <a:prstGeom prst="rect">
            <a:avLst/>
          </a:prstGeom>
          <a:solidFill>
            <a:srgbClr val="275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2000" y="3096000"/>
            <a:ext cx="1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6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72000" y="2808000"/>
            <a:ext cx="4680000" cy="15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08000" y="2880000"/>
            <a:ext cx="45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1A233E"/>
                </a:solidFill>
              </a:rPr>
              <a:t>Compute HR@K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08000" y="3240000"/>
            <a:ext cx="457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55F6D"/>
                </a:solidFill>
              </a:rPr>
              <a:t>Fraction of users whose held-out game appears in top-K.
Primary metric: HR@10.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92000" y="4536000"/>
            <a:ext cx="1080000" cy="1512000"/>
          </a:xfrm>
          <a:prstGeom prst="rect">
            <a:avLst/>
          </a:prstGeom>
          <a:solidFill>
            <a:srgbClr val="275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92000" y="4824000"/>
            <a:ext cx="1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60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72000" y="4536000"/>
            <a:ext cx="4680000" cy="15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08000" y="4608000"/>
            <a:ext cx="45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1A233E"/>
                </a:solidFill>
              </a:rPr>
              <a:t>Leakage prevention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08000" y="4968000"/>
            <a:ext cx="457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55F6D"/>
                </a:solidFill>
              </a:rPr>
              <a:t>Training items masked to −∞ before ranking. Hold-out never used in training.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0000" y="6318000"/>
            <a:ext cx="11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555F6D"/>
                </a:solidFill>
              </a:rPr>
              <a:t>12,389 qualifying users  |  484-game universe  |  426,601 total users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108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Results — HR@K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576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B0C4DE"/>
                </a:solidFill>
              </a:rPr>
              <a:t>All 4 systems evaluated at K ∈ {5, 10, 20}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6000"/>
            <a:ext cx="12193200" cy="2880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93200" cy="21600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49200"/>
            <a:ext cx="11833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00">
                <a:solidFill>
                  <a:srgbClr val="AABBCC"/>
                </a:solidFill>
              </a:rPr>
              <a:t>Group 6  |  Big Data  |  UPC</a:t>
            </a:r>
          </a:p>
        </p:txBody>
      </p:sp>
      <p:pic>
        <p:nvPicPr>
          <p:cNvPr id="8" name="Picture 7" descr="fig01_h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1080000"/>
            <a:ext cx="7560000" cy="34363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00000" y="1080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1A233E"/>
                </a:solidFill>
              </a:rPr>
              <a:t>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0000" y="1080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1A233E"/>
                </a:solidFill>
              </a:rPr>
              <a:t>HR@5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31999" y="1080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1A233E"/>
                </a:solidFill>
              </a:rPr>
              <a:t>HR@10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44000" y="1080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1A233E"/>
                </a:solidFill>
              </a:rPr>
              <a:t>HR@20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0000" y="1404000"/>
            <a:ext cx="4031999" cy="648000"/>
          </a:xfrm>
          <a:prstGeom prst="rect">
            <a:avLst/>
          </a:prstGeom>
          <a:solidFill>
            <a:srgbClr val="F2F5FB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6000" y="1512000"/>
            <a:ext cx="244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555F6D"/>
                </a:solidFill>
              </a:rPr>
              <a:t>Popularity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20000" y="1512000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1A233E"/>
                </a:solidFill>
              </a:rPr>
              <a:t>0.4597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31999" y="1512000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1A233E"/>
                </a:solidFill>
              </a:rPr>
              <a:t>0.5796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44000" y="1512000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1A233E"/>
                </a:solidFill>
              </a:rPr>
              <a:t>0.7124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0000" y="2088000"/>
            <a:ext cx="4031999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6000" y="2196000"/>
            <a:ext cx="244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75CAE"/>
                </a:solidFill>
              </a:rPr>
              <a:t>Content-based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20000" y="2196000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1A233E"/>
                </a:solidFill>
              </a:rPr>
              <a:t>0.1806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31999" y="2196000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1A233E"/>
                </a:solidFill>
              </a:rPr>
              <a:t>0.2170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44000" y="2196000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1A233E"/>
                </a:solidFill>
              </a:rPr>
              <a:t>0.2669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00000" y="2772000"/>
            <a:ext cx="4031999" cy="648000"/>
          </a:xfrm>
          <a:prstGeom prst="rect">
            <a:avLst/>
          </a:prstGeom>
          <a:solidFill>
            <a:srgbClr val="F2F5FB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6000" y="2880000"/>
            <a:ext cx="244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75CAE"/>
                </a:solidFill>
              </a:rPr>
              <a:t>MF k=10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20000" y="2880000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1A233E"/>
                </a:solidFill>
              </a:rPr>
              <a:t>0.1103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31999" y="2880000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1A233E"/>
                </a:solidFill>
              </a:rPr>
              <a:t>0.1888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44000" y="2880000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1A233E"/>
                </a:solidFill>
              </a:rPr>
              <a:t>0.2949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00000" y="3455999"/>
            <a:ext cx="4031999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6000" y="3563999"/>
            <a:ext cx="244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75CAE"/>
                </a:solidFill>
              </a:rPr>
              <a:t>MF k=20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20000" y="3563999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1A233E"/>
                </a:solidFill>
              </a:rPr>
              <a:t>0.0764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31999" y="3563999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1A233E"/>
                </a:solidFill>
              </a:rPr>
              <a:t>0.1333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44000" y="3563999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1A233E"/>
                </a:solidFill>
              </a:rPr>
              <a:t>0.2183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00000" y="4140000"/>
            <a:ext cx="4031999" cy="648000"/>
          </a:xfrm>
          <a:prstGeom prst="rect">
            <a:avLst/>
          </a:prstGeom>
          <a:solidFill>
            <a:srgbClr val="F2F5FB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6000" y="4248000"/>
            <a:ext cx="244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75CAE"/>
                </a:solidFill>
              </a:rPr>
              <a:t>MF k=50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20000" y="4248000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1A233E"/>
                </a:solidFill>
              </a:rPr>
              <a:t>0.0756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31999" y="4248000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1A233E"/>
                </a:solidFill>
              </a:rPr>
              <a:t>0.1235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44000" y="4248000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1A233E"/>
                </a:solidFill>
              </a:rPr>
              <a:t>0.1998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00000" y="4824000"/>
            <a:ext cx="4031999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6000" y="4932000"/>
            <a:ext cx="244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E86B2C"/>
                </a:solidFill>
              </a:rPr>
              <a:t>Hybrid α=0.3 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20000" y="4932000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E86B2C"/>
                </a:solidFill>
              </a:rPr>
              <a:t>0.2057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31999" y="4932000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E86B2C"/>
                </a:solidFill>
              </a:rPr>
              <a:t>0.2569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44000" y="4932000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E86B2C"/>
                </a:solidFill>
              </a:rPr>
              <a:t>0.3330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108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MF Training &amp; K-Sweep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576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B0C4DE"/>
                </a:solidFill>
              </a:rPr>
              <a:t>Convergence and latent dimension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6000"/>
            <a:ext cx="12193200" cy="2880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93200" cy="21600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49200"/>
            <a:ext cx="11833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00">
                <a:solidFill>
                  <a:srgbClr val="AABBCC"/>
                </a:solidFill>
              </a:rPr>
              <a:t>Group 6  |  Big Data  |  UPC</a:t>
            </a:r>
          </a:p>
        </p:txBody>
      </p:sp>
      <p:pic>
        <p:nvPicPr>
          <p:cNvPr id="8" name="Picture 7" descr="fig02_mf_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080000"/>
            <a:ext cx="5940000" cy="2970000"/>
          </a:xfrm>
          <a:prstGeom prst="rect">
            <a:avLst/>
          </a:prstGeom>
        </p:spPr>
      </p:pic>
      <p:pic>
        <p:nvPicPr>
          <p:cNvPr id="9" name="Picture 8" descr="fig03_mf_k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000" y="1080000"/>
            <a:ext cx="5760000" cy="32914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0000" y="5220000"/>
            <a:ext cx="594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555F6D"/>
                </a:solidFill>
              </a:rPr>
              <a:t>Loss decreases monotonically over 30 epochs (k=10). Convergence confirmed — regularized MSE drops from 0.98 to 0.016.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2000" y="5220000"/>
            <a:ext cx="576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555F6D"/>
                </a:solidFill>
              </a:rPr>
              <a:t>k=10 beats k=20 and k=50 on HR@10. Smaller latent space generalizes better on the sparse 484-game universe. Higher k overfits the scarce interaction signal.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108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Hybrid System — Alpha Sweep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576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B0C4DE"/>
                </a:solidFill>
              </a:rPr>
              <a:t>Balancing content signal vs collaborative filtering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6000"/>
            <a:ext cx="12193200" cy="2880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93200" cy="21600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49200"/>
            <a:ext cx="11833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00">
                <a:solidFill>
                  <a:srgbClr val="AABBCC"/>
                </a:solidFill>
              </a:rPr>
              <a:t>Group 6  |  Big Data  |  UPC</a:t>
            </a:r>
          </a:p>
        </p:txBody>
      </p:sp>
      <p:pic>
        <p:nvPicPr>
          <p:cNvPr id="8" name="Picture 7" descr="fig04_hybrid_alpha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080000"/>
            <a:ext cx="6480000" cy="37028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20000" y="1260000"/>
            <a:ext cx="50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1A233E"/>
                </a:solidFill>
              </a:rPr>
              <a:t>s_hybrid(u,g)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0000" y="1872000"/>
            <a:ext cx="50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275CAE"/>
                </a:solidFill>
              </a:rPr>
              <a:t>α × s_content(u,g)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0000" y="2376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2E7D32"/>
                </a:solidFill>
              </a:rPr>
              <a:t>+ (1-α) × s_MF(u,g)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0000" y="3420000"/>
            <a:ext cx="50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233E"/>
                </a:solidFill>
              </a:rPr>
              <a:t>•  α = 0.3 is optimal → HR@10 = 0.2569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0000" y="3618000"/>
            <a:ext cx="50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233E"/>
                </a:solidFill>
              </a:rPr>
              <a:t>•  30% content + 70% MF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0000" y="3816000"/>
            <a:ext cx="50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233E"/>
                </a:solidFill>
              </a:rPr>
              <a:t>•  Beats content-only (0.217) by +18%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0000" y="4014000"/>
            <a:ext cx="50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233E"/>
                </a:solidFill>
              </a:rPr>
              <a:t>•  Beats MF-only (0.189) by +36%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0000" y="4212000"/>
            <a:ext cx="50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233E"/>
                </a:solidFill>
              </a:rPr>
              <a:t>•  Both signals needed — neither dominates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108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Key Findings &amp; 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36000"/>
            <a:ext cx="12193200" cy="2880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42000"/>
            <a:ext cx="12193200" cy="21600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6649200"/>
            <a:ext cx="11833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00">
                <a:solidFill>
                  <a:srgbClr val="AABBCC"/>
                </a:solidFill>
              </a:rPr>
              <a:t>Group 6  |  Big Data  |  UPC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1152000"/>
            <a:ext cx="144000" cy="1512000"/>
          </a:xfrm>
          <a:prstGeom prst="rect">
            <a:avLst/>
          </a:prstGeom>
          <a:solidFill>
            <a:srgbClr val="275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24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275CAE"/>
                </a:solidFill>
              </a:rPr>
              <a:t>Class 7 methodology validated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584000"/>
            <a:ext cx="115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555F6D"/>
                </a:solidFill>
              </a:rPr>
              <a:t>Lloyd’s descent confirmed on 5/5 seeds. SVD+L2 representation improved silhouette from 0.026 (raw) to 0.077. K=6 chosen via balanced elbow + cluster size analysis.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000" y="2880000"/>
            <a:ext cx="144000" cy="151200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952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E86B2C"/>
                </a:solidFill>
              </a:rPr>
              <a:t>Recommendation engine delivers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3312000"/>
            <a:ext cx="115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555F6D"/>
                </a:solidFill>
              </a:rPr>
              <a:t>Hybrid α=0.3 achieves HR@10=0.2569 — best among personalized systems. Content-based alone (0.217) and MF alone (0.189) are each sub-optimal. Combining both signals matters.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" y="4608000"/>
            <a:ext cx="144000" cy="1512000"/>
          </a:xfrm>
          <a:prstGeom prst="rect">
            <a:avLst/>
          </a:prstGeom>
          <a:solidFill>
            <a:srgbClr val="555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000" y="4680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555F6D"/>
                </a:solidFill>
              </a:rPr>
              <a:t>Popularity ceiling is 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5040000"/>
            <a:ext cx="115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555F6D"/>
                </a:solidFill>
              </a:rPr>
              <a:t>Popularity HR@10=0.58 is dominant because the evaluation universe is small (484 games). Full-catalog evaluation would likely reverse this result as user tastes diverge from average.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108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</a:rPr>
              <a:t>Reproducible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576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B0C4DE"/>
                </a:solidFill>
              </a:rPr>
              <a:t>All results generated from 5 commands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36000"/>
            <a:ext cx="12193200" cy="2880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42000"/>
            <a:ext cx="12193200" cy="21600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49200"/>
            <a:ext cx="11833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00">
                <a:solidFill>
                  <a:srgbClr val="AABBCC"/>
                </a:solidFill>
              </a:rPr>
              <a:t>Group 6  |  Big Data  |  UPC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000" y="1080000"/>
            <a:ext cx="2880000" cy="936000"/>
          </a:xfrm>
          <a:prstGeom prst="rect">
            <a:avLst/>
          </a:prstGeom>
          <a:solidFill>
            <a:srgbClr val="275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6000" y="1296000"/>
            <a:ext cx="280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Step 1  —  Ingestion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31999" y="1080000"/>
            <a:ext cx="5040000" cy="936000"/>
          </a:xfrm>
          <a:prstGeom prst="rect">
            <a:avLst/>
          </a:prstGeom>
          <a:solidFill>
            <a:srgbClr val="0D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68000" y="1296000"/>
            <a:ext cx="49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7DFFA0"/>
                </a:solidFill>
              </a:rPr>
              <a:t>python src/ingest.py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80000" y="1080000"/>
            <a:ext cx="3780000" cy="936000"/>
          </a:xfrm>
          <a:prstGeom prst="rect">
            <a:avLst/>
          </a:prstGeom>
          <a:solidFill>
            <a:srgbClr val="12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6000" y="1296000"/>
            <a:ext cx="3671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AABBCC"/>
                </a:solidFill>
              </a:rPr>
              <a:t>steam_v1.parquet → data/processed/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0000" y="2160000"/>
            <a:ext cx="2880000" cy="936000"/>
          </a:xfrm>
          <a:prstGeom prst="rect">
            <a:avLst/>
          </a:prstGeom>
          <a:solidFill>
            <a:srgbClr val="275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6000" y="2376000"/>
            <a:ext cx="280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Step 2  —  Feature Engineering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31999" y="2160000"/>
            <a:ext cx="5040000" cy="936000"/>
          </a:xfrm>
          <a:prstGeom prst="rect">
            <a:avLst/>
          </a:prstGeom>
          <a:solidFill>
            <a:srgbClr val="0D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68000" y="2376000"/>
            <a:ext cx="49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7DFFA0"/>
                </a:solidFill>
              </a:rPr>
              <a:t>python src/feature_engineering.py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80000" y="2160000"/>
            <a:ext cx="3780000" cy="936000"/>
          </a:xfrm>
          <a:prstGeom prst="rect">
            <a:avLst/>
          </a:prstGeom>
          <a:solidFill>
            <a:srgbClr val="12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6000" y="2376000"/>
            <a:ext cx="3671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AABBCC"/>
                </a:solidFill>
              </a:rPr>
              <a:t>X_numeric, X_categorical, X_text → artifacts/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0000" y="3240000"/>
            <a:ext cx="2880000" cy="936000"/>
          </a:xfrm>
          <a:prstGeom prst="rect">
            <a:avLst/>
          </a:prstGeom>
          <a:solidFill>
            <a:srgbClr val="275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6000" y="3456000"/>
            <a:ext cx="280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Step 3  —  Clustering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31999" y="3240000"/>
            <a:ext cx="5040000" cy="936000"/>
          </a:xfrm>
          <a:prstGeom prst="rect">
            <a:avLst/>
          </a:prstGeom>
          <a:solidFill>
            <a:srgbClr val="0D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68000" y="3456000"/>
            <a:ext cx="49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7DFFA0"/>
                </a:solidFill>
              </a:rPr>
              <a:t>python src/clustering_week7.py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80000" y="3240000"/>
            <a:ext cx="3780000" cy="936000"/>
          </a:xfrm>
          <a:prstGeom prst="rect">
            <a:avLst/>
          </a:prstGeom>
          <a:solidFill>
            <a:srgbClr val="12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16000" y="3456000"/>
            <a:ext cx="3671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AABBCC"/>
                </a:solidFill>
              </a:rPr>
              <a:t>cluster_labels_k6.npy → artifacts/clustering/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0000" y="4320000"/>
            <a:ext cx="2880000" cy="936000"/>
          </a:xfrm>
          <a:prstGeom prst="rect">
            <a:avLst/>
          </a:prstGeom>
          <a:solidFill>
            <a:srgbClr val="275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6000" y="4536000"/>
            <a:ext cx="280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Step 4  —  Recommendation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31999" y="4320000"/>
            <a:ext cx="5040000" cy="936000"/>
          </a:xfrm>
          <a:prstGeom prst="rect">
            <a:avLst/>
          </a:prstGeom>
          <a:solidFill>
            <a:srgbClr val="0D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68000" y="4536000"/>
            <a:ext cx="49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7DFFA0"/>
                </a:solidFill>
              </a:rPr>
              <a:t>python src/recommendation.py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80000" y="4320000"/>
            <a:ext cx="3780000" cy="936000"/>
          </a:xfrm>
          <a:prstGeom prst="rect">
            <a:avLst/>
          </a:prstGeom>
          <a:solidFill>
            <a:srgbClr val="12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16000" y="4536000"/>
            <a:ext cx="3671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AABBCC"/>
                </a:solidFill>
              </a:rPr>
              <a:t>rec_metrics.json → artifacts/recommendation/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0000" y="5400000"/>
            <a:ext cx="2880000" cy="936000"/>
          </a:xfrm>
          <a:prstGeom prst="rect">
            <a:avLst/>
          </a:prstGeom>
          <a:solidFill>
            <a:srgbClr val="275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6000" y="5616000"/>
            <a:ext cx="280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Step 5  —  Figures &amp; Reports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31999" y="5400000"/>
            <a:ext cx="5040000" cy="936000"/>
          </a:xfrm>
          <a:prstGeom prst="rect">
            <a:avLst/>
          </a:prstGeom>
          <a:solidFill>
            <a:srgbClr val="0D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68000" y="5616000"/>
            <a:ext cx="49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7DFFA0"/>
                </a:solidFill>
              </a:rPr>
              <a:t>python src/generate_figures.py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80000" y="5400000"/>
            <a:ext cx="3780000" cy="936000"/>
          </a:xfrm>
          <a:prstGeom prst="rect">
            <a:avLst/>
          </a:prstGeom>
          <a:solidFill>
            <a:srgbClr val="12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16000" y="5616000"/>
            <a:ext cx="3671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AABBCC"/>
                </a:solidFill>
              </a:rPr>
              <a:t>PNG figures → reports/Week5/ and reports/Week10/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0000" y="6318000"/>
            <a:ext cx="11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>
                <a:solidFill>
                  <a:srgbClr val="88AACC"/>
                </a:solidFill>
              </a:rPr>
              <a:t>random_state=42 throughout  —  all results fully deterministic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